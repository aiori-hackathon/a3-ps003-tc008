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Average vehicles per hour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vehicles/hour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Junction 1</c:v>
                </c:pt>
                <c:pt idx="1">
                  <c:v>Junction 2</c:v>
                </c:pt>
                <c:pt idx="2">
                  <c:v>Junction 3</c:v>
                </c:pt>
                <c:pt idx="3">
                  <c:v>Junction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14</c:v>
                </c:pt>
                <c:pt idx="2">
                  <c:v>14</c:v>
                </c:pt>
                <c:pt idx="3">
                  <c:v>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24B-417F-A68F-BBDB330876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91083424"/>
        <c:axId val="1691097024"/>
      </c:barChart>
      <c:catAx>
        <c:axId val="1691083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691097024"/>
        <c:crosses val="autoZero"/>
        <c:auto val="1"/>
        <c:lblAlgn val="ctr"/>
        <c:lblOffset val="100"/>
        <c:noMultiLvlLbl val="1"/>
      </c:catAx>
      <c:valAx>
        <c:axId val="169109702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691083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3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 SMART CITIES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A3-PS003-TC008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FedTraffic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Traffic-Flow Prediction with Communication-Cost Evaluation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77240" cy="0"/>
          </a:xfrm>
          <a:prstGeom prst="line">
            <a:avLst/>
          </a:prstGeom>
          <a:noFill/>
          <a:ln w="16510">
            <a:solidFill>
              <a:srgbClr val="3C4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3840480"/>
            <a:ext cx="777240" cy="0"/>
          </a:xfrm>
          <a:prstGeom prst="line">
            <a:avLst/>
          </a:prstGeom>
          <a:noFill/>
          <a:ln w="16510">
            <a:solidFill>
              <a:srgbClr val="3C4F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3721608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89888" y="3721608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1389888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67128" y="3721608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2167128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Sajal Gupta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sajal.gupta.1027@gmail.com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00150" y="4846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Hari 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abhinavhari2044@gmail.com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="" xmlns:a16="http://schemas.microsoft.com/office/drawing/2014/main" id="{BC0BDE23-1C59-5C16-674E-49C2019358BF}"/>
              </a:ext>
            </a:extLst>
          </p:cNvPr>
          <p:cNvSpPr/>
          <p:nvPr/>
        </p:nvSpPr>
        <p:spPr>
          <a:xfrm>
            <a:off x="5097380" y="4846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 (Mentor)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 smtClean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gowthamgopal16@gmail.com</a:t>
            </a:r>
            <a:endParaRPr lang="en-US" sz="1300" dirty="0"/>
          </a:p>
        </p:txBody>
      </p:sp>
      <p:pic>
        <p:nvPicPr>
          <p:cNvPr id="19" name="Picture 18" descr="The AIORI Mobile App - AIORI">
            <a:extLst>
              <a:ext uri="{FF2B5EF4-FFF2-40B4-BE49-F238E27FC236}">
                <a16:creationId xmlns="" xmlns:a16="http://schemas.microsoft.com/office/drawing/2014/main" id="{52A0AD81-A34A-5C5E-66BA-A51758C3D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7377"/>
            <a:ext cx="1967564" cy="19683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Description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10972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forecasting normally streams raw sensor data to a central cloud: heavy on bandwidth, and private travel logs end up in one place.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keeps data at each junction and shares only model weights.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question: how accurate is it when junctions differ (non-IID), and what does each round cost in bytes?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a simulation. No live cameras, no city-wide deployment, no formal privacy guarantees.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50" dirty="0"/>
          </a:p>
        </p:txBody>
      </p:sp>
      <p:sp>
        <p:nvSpPr>
          <p:cNvPr id="29" name="Text 23">
            <a:extLst>
              <a:ext uri="{FF2B5EF4-FFF2-40B4-BE49-F238E27FC236}">
                <a16:creationId xmlns="" xmlns:a16="http://schemas.microsoft.com/office/drawing/2014/main" id="{9456D8AD-CB16-AF36-67D6-BAFC5B3DBE03}"/>
              </a:ext>
            </a:extLst>
          </p:cNvPr>
          <p:cNvSpPr txBox="1"/>
          <p:nvPr/>
        </p:nvSpPr>
        <p:spPr>
          <a:xfrm>
            <a:off x="731520" y="539496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</a:rPr>
              <a:t>Raw data leaves every junction: heavy on bandwidth, private logs in one place.</a:t>
            </a:r>
            <a:endParaRPr lang="en-US" sz="1200" dirty="0"/>
          </a:p>
        </p:txBody>
      </p:sp>
      <p:sp>
        <p:nvSpPr>
          <p:cNvPr id="33" name="Text 24">
            <a:extLst>
              <a:ext uri="{FF2B5EF4-FFF2-40B4-BE49-F238E27FC236}">
                <a16:creationId xmlns="" xmlns:a16="http://schemas.microsoft.com/office/drawing/2014/main" id="{AF4A0846-5769-7677-0E61-699489B369C9}"/>
              </a:ext>
            </a:extLst>
          </p:cNvPr>
          <p:cNvSpPr txBox="1"/>
          <p:nvPr/>
        </p:nvSpPr>
        <p:spPr>
          <a:xfrm>
            <a:off x="6382512" y="539496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E7C86"/>
                </a:solidFill>
              </a:rPr>
              <a:t>Only model weights leave. Raw data stays at the junction.</a:t>
            </a:r>
            <a:endParaRPr lang="en-US" sz="1200" dirty="0"/>
          </a:p>
        </p:txBody>
      </p:sp>
      <p:pic>
        <p:nvPicPr>
          <p:cNvPr id="35" name="Picture 34">
            <a:extLst>
              <a:ext uri="{FF2B5EF4-FFF2-40B4-BE49-F238E27FC236}">
                <a16:creationId xmlns="" xmlns:a16="http://schemas.microsoft.com/office/drawing/2014/main" id="{324E39BB-77B5-F59B-1CF8-F393C8BDD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95728"/>
            <a:ext cx="5321808" cy="290779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="" xmlns:a16="http://schemas.microsoft.com/office/drawing/2014/main" id="{20056950-97F2-CBEC-0BA8-3A81E9A20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95728"/>
            <a:ext cx="5349240" cy="2907792"/>
          </a:xfrm>
          <a:prstGeom prst="rect">
            <a:avLst/>
          </a:prstGeom>
        </p:spPr>
      </p:pic>
      <p:sp>
        <p:nvSpPr>
          <p:cNvPr id="12" name="Text 14"/>
          <p:cNvSpPr/>
          <p:nvPr/>
        </p:nvSpPr>
        <p:spPr>
          <a:xfrm>
            <a:off x="283464" y="6291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024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COIMBATORE?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50" dirty="0"/>
          </a:p>
        </p:txBody>
      </p:sp>
      <p:sp>
        <p:nvSpPr>
          <p:cNvPr id="16" name="Text 1">
            <a:extLst>
              <a:ext uri="{FF2B5EF4-FFF2-40B4-BE49-F238E27FC236}">
                <a16:creationId xmlns="" xmlns:a16="http://schemas.microsoft.com/office/drawing/2014/main" id="{E0689EC8-90FE-B4BC-A4D0-3296F83559BD}"/>
              </a:ext>
            </a:extLst>
          </p:cNvPr>
          <p:cNvSpPr/>
          <p:nvPr/>
        </p:nvSpPr>
        <p:spPr>
          <a:xfrm>
            <a:off x="923544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BC8C2F-F86B-242F-6C27-CBEE25865ECB}"/>
              </a:ext>
            </a:extLst>
          </p:cNvPr>
          <p:cNvSpPr txBox="1"/>
          <p:nvPr/>
        </p:nvSpPr>
        <p:spPr>
          <a:xfrm>
            <a:off x="676656" y="1846290"/>
            <a:ext cx="5074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 err="1">
                <a:latin typeface="Aptos"/>
                <a:cs typeface="Times New Roman" panose="02020603050405020304" pitchFamily="18" charset="0"/>
              </a:rPr>
              <a:t>FedAvg</a:t>
            </a:r>
            <a:r>
              <a:rPr lang="en-IN" sz="1400" b="1" dirty="0">
                <a:latin typeface="Aptos"/>
                <a:cs typeface="Times New Roman" panose="02020603050405020304" pitchFamily="18" charset="0"/>
              </a:rPr>
              <a:t> :</a:t>
            </a:r>
            <a:r>
              <a:rPr lang="en-IN" sz="1400" dirty="0">
                <a:latin typeface="Aptos"/>
                <a:cs typeface="Times New Roman" panose="02020603050405020304" pitchFamily="18" charset="0"/>
              </a:rPr>
              <a:t> the server sends the model, clients train locally, and the server averages the returned weights.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>
                <a:latin typeface="Aptos"/>
                <a:cs typeface="Times New Roman" panose="02020603050405020304" pitchFamily="18" charset="0"/>
              </a:rPr>
              <a:t>IID vs non-IID:</a:t>
            </a:r>
            <a:r>
              <a:rPr lang="en-IN" sz="1400" dirty="0">
                <a:latin typeface="Aptos"/>
                <a:cs typeface="Times New Roman" panose="02020603050405020304" pitchFamily="18" charset="0"/>
              </a:rPr>
              <a:t> non-IID means clients hold different data. Here, junction traffic differs a lot.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>
                <a:latin typeface="Aptos"/>
                <a:cs typeface="Times New Roman" panose="02020603050405020304" pitchFamily="18" charset="0"/>
              </a:rPr>
              <a:t>Why it matters:</a:t>
            </a:r>
            <a:r>
              <a:rPr lang="en-IN" sz="1400" dirty="0">
                <a:latin typeface="Aptos"/>
                <a:cs typeface="Times New Roman" panose="02020603050405020304" pitchFamily="18" charset="0"/>
              </a:rPr>
              <a:t> federated learning’s core challenges include communication cost and statistical heterogeneity.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>
                <a:latin typeface="Aptos"/>
                <a:cs typeface="Times New Roman" panose="02020603050405020304" pitchFamily="18" charset="0"/>
              </a:rPr>
              <a:t>Our metrics:</a:t>
            </a:r>
            <a:r>
              <a:rPr lang="en-IN" sz="1400" dirty="0">
                <a:latin typeface="Aptos"/>
                <a:cs typeface="Times New Roman" panose="02020603050405020304" pitchFamily="18" charset="0"/>
              </a:rPr>
              <a:t> MAE, RMSE, bytes per round, convergence.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dirty="0">
              <a:latin typeface="Aptos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95AFD332-A1F8-89C0-CB6C-43335188F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398264"/>
            <a:ext cx="5605272" cy="1234440"/>
          </a:xfrm>
          <a:prstGeom prst="rect">
            <a:avLst/>
          </a:prstGeom>
        </p:spPr>
      </p:pic>
      <p:graphicFrame>
        <p:nvGraphicFramePr>
          <p:cNvPr id="21" name="Chart 0">
            <a:extLst>
              <a:ext uri="{FF2B5EF4-FFF2-40B4-BE49-F238E27FC236}">
                <a16:creationId xmlns="" xmlns:a16="http://schemas.microsoft.com/office/drawing/2014/main" id="{C3A76F03-9E3C-DBE7-C336-5D473CC666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3248281"/>
              </p:ext>
            </p:extLst>
          </p:nvPr>
        </p:nvGraphicFramePr>
        <p:xfrm>
          <a:off x="5925312" y="1417320"/>
          <a:ext cx="5650992" cy="349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2">
            <a:extLst>
              <a:ext uri="{FF2B5EF4-FFF2-40B4-BE49-F238E27FC236}">
                <a16:creationId xmlns="" xmlns:a16="http://schemas.microsoft.com/office/drawing/2014/main" id="{9BB4AB51-88C8-9CF3-362D-30FFFCA379AB}"/>
              </a:ext>
            </a:extLst>
          </p:cNvPr>
          <p:cNvSpPr/>
          <p:nvPr/>
        </p:nvSpPr>
        <p:spPr>
          <a:xfrm>
            <a:off x="6035040" y="5074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Junction 1 carries about six times the traffic of Junction 4. That’s why averaging models across them is hard.</a:t>
            </a:r>
            <a:endParaRPr lang="en-US" sz="14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22860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&amp; RFC 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24978" y="1828800"/>
            <a:ext cx="3291038" cy="4480560"/>
          </a:xfrm>
          <a:prstGeom prst="roundRect">
            <a:avLst>
              <a:gd name="adj" fmla="val 1519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753578" y="2010557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5357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3578" y="2834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McMahan et al.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3578" y="3127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AISTATS 2017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336" y="4011328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Introduces </a:t>
            </a:r>
            <a:r>
              <a:rPr lang="en-US" sz="14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FedAvg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- the aggregation algorithm at the core of our federated loop.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66010" y="1834415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194610" y="202283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194610" y="20630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94610" y="28402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 at al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94610" y="3132863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SPM 2020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94610" y="4623335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survey of federated learning’s challenges and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paper that introduced the METR-LA dataset we build and evaluate on.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 our focus on communication and non-IID data</a:t>
            </a:r>
            <a:endParaRPr lang="en-US" sz="14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68928" y="1849575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7818922" y="199483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7818922" y="19775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18922" y="2754831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Sattler et al.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818922" y="3047439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TNNLS 2020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18922" y="430121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that federated learning has significant communication overhead, and that non-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data is the realistic case where simple methods struggle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Motivates measuring bytes and testing non-IID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50" dirty="0"/>
          </a:p>
        </p:txBody>
      </p:sp>
      <p:sp>
        <p:nvSpPr>
          <p:cNvPr id="42" name="Text 8">
            <a:extLst>
              <a:ext uri="{FF2B5EF4-FFF2-40B4-BE49-F238E27FC236}">
                <a16:creationId xmlns="" xmlns:a16="http://schemas.microsoft.com/office/drawing/2014/main" id="{AEC78547-A010-C33E-7A69-B47B58C4AB85}"/>
              </a:ext>
            </a:extLst>
          </p:cNvPr>
          <p:cNvSpPr/>
          <p:nvPr/>
        </p:nvSpPr>
        <p:spPr>
          <a:xfrm>
            <a:off x="661336" y="320954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“Communication-Efficient Learning of Deep Networks from Decentralized Data”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="" xmlns:a16="http://schemas.microsoft.com/office/drawing/2014/main" id="{DF4C8E7E-38EE-DFD9-FFFA-76E095450E69}"/>
              </a:ext>
            </a:extLst>
          </p:cNvPr>
          <p:cNvSpPr/>
          <p:nvPr/>
        </p:nvSpPr>
        <p:spPr>
          <a:xfrm>
            <a:off x="4102368" y="3215159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“Diffusion Convolutional Recurrent Neural Network: Data-Driven Traffic Forecasting”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="" xmlns:a16="http://schemas.microsoft.com/office/drawing/2014/main" id="{7898AD9E-FF82-CE97-4245-80386A4EF3F8}"/>
              </a:ext>
            </a:extLst>
          </p:cNvPr>
          <p:cNvSpPr/>
          <p:nvPr/>
        </p:nvSpPr>
        <p:spPr>
          <a:xfrm>
            <a:off x="7726680" y="2992575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“Federated Learning with Non-IID Data”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2">
            <a:extLst>
              <a:ext uri="{FF2B5EF4-FFF2-40B4-BE49-F238E27FC236}">
                <a16:creationId xmlns="" xmlns:a16="http://schemas.microsoft.com/office/drawing/2014/main" id="{08B56F99-0FA5-4047-D557-9582833A17D7}"/>
              </a:ext>
            </a:extLst>
          </p:cNvPr>
          <p:cNvSpPr/>
          <p:nvPr/>
        </p:nvSpPr>
        <p:spPr>
          <a:xfrm>
            <a:off x="1014984" y="104698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 focuses on accuracy and privacy. We add a controlled study of IID vs non-IID and communication bytes per round on a small, reproducible simulator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22860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50" dirty="0"/>
          </a:p>
        </p:txBody>
      </p:sp>
      <p:pic>
        <p:nvPicPr>
          <p:cNvPr id="31" name="Picture 30">
            <a:extLst>
              <a:ext uri="{FF2B5EF4-FFF2-40B4-BE49-F238E27FC236}">
                <a16:creationId xmlns="" xmlns:a16="http://schemas.microsoft.com/office/drawing/2014/main" id="{24EB294D-E134-71F5-CAB9-DD5BEEEA0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26820"/>
            <a:ext cx="11088129" cy="361853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D0661F6-534D-3E68-FD82-37200FA881E5}"/>
              </a:ext>
            </a:extLst>
          </p:cNvPr>
          <p:cNvSpPr txBox="1"/>
          <p:nvPr/>
        </p:nvSpPr>
        <p:spPr>
          <a:xfrm>
            <a:off x="1014983" y="1191341"/>
            <a:ext cx="8804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data and same model in all three setups. The only thing that changes is how training happens.</a:t>
            </a:r>
          </a:p>
        </p:txBody>
      </p:sp>
      <p:sp>
        <p:nvSpPr>
          <p:cNvPr id="9" name="Text 14"/>
          <p:cNvSpPr/>
          <p:nvPr/>
        </p:nvSpPr>
        <p:spPr>
          <a:xfrm>
            <a:off x="22860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Optimization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50" dirty="0"/>
          </a:p>
        </p:txBody>
      </p:sp>
      <p:graphicFrame>
        <p:nvGraphicFramePr>
          <p:cNvPr id="13" name="Table 0">
            <a:extLst>
              <a:ext uri="{FF2B5EF4-FFF2-40B4-BE49-F238E27FC236}">
                <a16:creationId xmlns="" xmlns:a16="http://schemas.microsoft.com/office/drawing/2014/main" id="{18EABA7C-ADC2-C560-6B78-DA3B7D190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14883"/>
              </p:ext>
            </p:extLst>
          </p:nvPr>
        </p:nvGraphicFramePr>
        <p:xfrm>
          <a:off x="502920" y="3182112"/>
          <a:ext cx="6050279" cy="235915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794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2359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2359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235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 IID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 non-IID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3.141±0.026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3.232±0.004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3.931±0.201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4.927±0.047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5.109±0.012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6.354±0.348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Rounds to converge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~7 epochs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Bytes per round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108,576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108,576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data leaves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FC158EFC-ABCC-69A8-247D-058F63AD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5257800" cy="3794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A0F2C5D-043E-6B0A-1E02-3797212ADF20}"/>
              </a:ext>
            </a:extLst>
          </p:cNvPr>
          <p:cNvSpPr txBox="1"/>
          <p:nvPr/>
        </p:nvSpPr>
        <p:spPr>
          <a:xfrm>
            <a:off x="502920" y="1408176"/>
            <a:ext cx="5943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/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Aways -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IID federated is about 3% worse than centralised.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Non-IID is about 25% worse and less stable.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damage is mostly at Junction 1: MAE 4.5 → 7.7.</a:t>
            </a:r>
          </a:p>
          <a:p>
            <a:pPr marL="342900" lvl="0" indent="-342900" rtl="0">
              <a:buFont typeface="+mj-lt"/>
              <a:buAutoNum type="arabicPeriod"/>
            </a:pPr>
            <a:r>
              <a:rPr lang="en-I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rounds cost about 3.1 MB, more than the roughly 165 KB raw data (approximate). The benefit here is data staying local.</a:t>
            </a:r>
          </a:p>
        </p:txBody>
      </p:sp>
      <p:sp>
        <p:nvSpPr>
          <p:cNvPr id="12" name="Text 14"/>
          <p:cNvSpPr/>
          <p:nvPr/>
        </p:nvSpPr>
        <p:spPr>
          <a:xfrm>
            <a:off x="22860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 &amp; Design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50" dirty="0"/>
          </a:p>
        </p:txBody>
      </p:sp>
      <p:sp>
        <p:nvSpPr>
          <p:cNvPr id="29" name="TextBox 28"/>
          <p:cNvSpPr txBox="1"/>
          <p:nvPr/>
        </p:nvSpPr>
        <p:spPr>
          <a:xfrm>
            <a:off x="594360" y="1051560"/>
            <a:ext cx="10972800" cy="3200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152B4A"/>
                </a:solidFill>
                <a:latin typeface="Aptos"/>
              </a:defRPr>
            </a:pPr>
            <a:r>
              <a:t>Logical architecture  |  Components are logical modules implemented across the project scripts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1645920"/>
            <a:ext cx="2331720" cy="960120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500" b="1">
                <a:solidFill>
                  <a:srgbClr val="152B4A"/>
                </a:solidFill>
                <a:latin typeface="Aptos Display"/>
              </a:defRPr>
            </a:pPr>
            <a:r>
              <a:t>Preprocessor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prepare_data.py</a:t>
            </a:r>
            <a:br/>
            <a:r>
              <a:t>Scale + 12-hour windows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2926080"/>
            <a:ext cx="2331720" cy="960120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500" b="1">
                <a:solidFill>
                  <a:srgbClr val="152B4A"/>
                </a:solidFill>
                <a:latin typeface="Aptos Display"/>
              </a:defRPr>
            </a:pPr>
            <a:r>
              <a:t>Partitioner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IID shuffle / non-IID</a:t>
            </a:r>
            <a:br/>
            <a:r>
              <a:t>1 junction per client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1645920"/>
            <a:ext cx="2286000" cy="960120"/>
          </a:xfrm>
          <a:prstGeom prst="roundRect">
            <a:avLst/>
          </a:prstGeom>
          <a:solidFill>
            <a:srgbClr val="EBF4F8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500" b="1">
                <a:solidFill>
                  <a:srgbClr val="152B4A"/>
                </a:solidFill>
                <a:latin typeface="Aptos Display"/>
              </a:defRPr>
            </a:pPr>
            <a:r>
              <a:t>GRUNet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12-hour input · 32 hidden units</a:t>
            </a:r>
            <a:br/>
            <a:r>
              <a:t>3,393 parameters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2926080"/>
            <a:ext cx="2286000" cy="960120"/>
          </a:xfrm>
          <a:prstGeom prst="roundRect">
            <a:avLst/>
          </a:prstGeom>
          <a:solidFill>
            <a:srgbClr val="EBF4F8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500" b="1">
                <a:solidFill>
                  <a:srgbClr val="152B4A"/>
                </a:solidFill>
                <a:latin typeface="Aptos Display"/>
              </a:defRPr>
            </a:pPr>
            <a:r>
              <a:t>Client × 4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local_train(global weights)</a:t>
            </a:r>
            <a:br/>
            <a:r>
              <a:t>send_weights()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2240280"/>
            <a:ext cx="2240280" cy="1097280"/>
          </a:xfrm>
          <a:prstGeom prst="roundRect">
            <a:avLst/>
          </a:prstGeom>
          <a:solidFill>
            <a:srgbClr val="E1F1F3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600" b="1">
                <a:solidFill>
                  <a:srgbClr val="152B4A"/>
                </a:solidFill>
                <a:latin typeface="Aptos Display"/>
              </a:defRPr>
            </a:pPr>
            <a:r>
              <a:t>Server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broadcast(global model)</a:t>
            </a:r>
            <a:br/>
            <a:r>
              <a:t>FedAvg(weighted by data size)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1645920"/>
            <a:ext cx="2423160" cy="960120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500" b="1">
                <a:solidFill>
                  <a:srgbClr val="152B4A"/>
                </a:solidFill>
                <a:latin typeface="Aptos Display"/>
              </a:defRPr>
            </a:pPr>
            <a:r>
              <a:t>CommTracker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bytes_per_round</a:t>
            </a:r>
            <a:br/>
            <a:r>
              <a:t>cumulative_bytes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2926080"/>
            <a:ext cx="2423160" cy="960120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500" b="1">
                <a:solidFill>
                  <a:srgbClr val="152B4A"/>
                </a:solidFill>
                <a:latin typeface="Aptos Display"/>
              </a:defRPr>
            </a:pPr>
            <a:r>
              <a:t>Evaluator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MAE · RMSE</a:t>
            </a:r>
            <a:br/>
            <a:r>
              <a:t>per-junction metrics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886200"/>
            <a:ext cx="2240280" cy="914400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500" b="1">
                <a:solidFill>
                  <a:srgbClr val="152B4A"/>
                </a:solidFill>
                <a:latin typeface="Aptos Display"/>
              </a:defRPr>
            </a:pPr>
            <a:r>
              <a:t>ExperimentRunner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central / IID / non-IID</a:t>
            </a:r>
            <a:br/>
            <a:r>
              <a:t>seeds 0, 1, 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64792" y="2606040"/>
            <a:ext cx="0" cy="32004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26080" y="3401568"/>
            <a:ext cx="50292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2000" y="2606040"/>
            <a:ext cx="0" cy="32004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715000" y="2971800"/>
            <a:ext cx="548640" cy="429768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503920" y="2148840"/>
            <a:ext cx="548640" cy="45720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03920" y="2971800"/>
            <a:ext cx="548640" cy="429768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388352" y="3337560"/>
            <a:ext cx="0" cy="54864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" y="5166360"/>
            <a:ext cx="10972800" cy="5029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100" b="0">
                <a:solidFill>
                  <a:srgbClr val="526170"/>
                </a:solidFill>
                <a:latin typeface="Aptos"/>
              </a:defRPr>
            </a:pPr>
            <a:r>
              <a:t>Data stays at each client. Only model weights/updates are exchanged; evaluation records prediction errors and communication cost.</a:t>
            </a:r>
          </a:p>
        </p:txBody>
      </p:sp>
      <p:sp>
        <p:nvSpPr>
          <p:cNvPr id="24" name="Text 14"/>
          <p:cNvSpPr/>
          <p:nvPr/>
        </p:nvSpPr>
        <p:spPr>
          <a:xfrm>
            <a:off x="22860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200" b="1">
                <a:solidFill>
                  <a:srgbClr val="152B4A"/>
                </a:solidFill>
                <a:latin typeface="Aptos"/>
              </a:defRPr>
            </a:pPr>
            <a:r>
              <a:t>traffic.csv  ·  4 junctions, hourly 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371600"/>
            <a:ext cx="3657600" cy="640080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400" b="1">
                <a:solidFill>
                  <a:srgbClr val="152B4A"/>
                </a:solidFill>
                <a:latin typeface="Aptos Display"/>
              </a:defRPr>
            </a:pPr>
            <a:r>
              <a:t>Preprocess</a:t>
            </a:r>
          </a:p>
          <a:p>
            <a:pPr algn="ctr">
              <a:defRPr sz="900">
                <a:solidFill>
                  <a:srgbClr val="526170"/>
                </a:solidFill>
                <a:latin typeface="Aptos"/>
              </a:defRPr>
            </a:pPr>
            <a:r>
              <a:t>Scale + 12-hour 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331720"/>
            <a:ext cx="3657600" cy="658368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300" b="1">
                <a:solidFill>
                  <a:srgbClr val="152B4A"/>
                </a:solidFill>
                <a:latin typeface="Aptos Display"/>
              </a:defRPr>
            </a:pPr>
            <a:r>
              <a:t>Chronological split</a:t>
            </a:r>
          </a:p>
          <a:p>
            <a:pPr algn="ctr">
              <a:defRPr sz="900">
                <a:solidFill>
                  <a:srgbClr val="526170"/>
                </a:solidFill>
                <a:latin typeface="Aptos"/>
              </a:defRPr>
            </a:pPr>
            <a:r>
              <a:t>Train before 1 May 2017  |  Test: May–Jun 2017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011680"/>
            <a:ext cx="0" cy="32004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3429000"/>
            <a:ext cx="3063240" cy="822960"/>
          </a:xfrm>
          <a:prstGeom prst="roundRect">
            <a:avLst/>
          </a:prstGeom>
          <a:solidFill>
            <a:srgbClr val="ECF1F8"/>
          </a:solidFill>
          <a:ln w="1651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300" b="1">
                <a:solidFill>
                  <a:srgbClr val="152B4A"/>
                </a:solidFill>
                <a:latin typeface="Aptos Display"/>
              </a:defRPr>
            </a:pPr>
            <a:r>
              <a:t>CENTRALISED PATH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Pool all junctions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526280"/>
            <a:ext cx="3063240" cy="749808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37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300" b="1">
                <a:solidFill>
                  <a:srgbClr val="152B4A"/>
                </a:solidFill>
                <a:latin typeface="Aptos Display"/>
              </a:defRPr>
            </a:pPr>
            <a:r>
              <a:t>Train one GRU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30 epochs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240280" y="2697480"/>
            <a:ext cx="2011680" cy="731520"/>
          </a:xfrm>
          <a:prstGeom prst="line">
            <a:avLst/>
          </a:prstGeom>
          <a:ln w="20320">
            <a:solidFill>
              <a:srgbClr val="37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40280" y="4251960"/>
            <a:ext cx="0" cy="274320"/>
          </a:xfrm>
          <a:prstGeom prst="line">
            <a:avLst/>
          </a:prstGeom>
          <a:ln w="20320">
            <a:solidFill>
              <a:srgbClr val="376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429000"/>
            <a:ext cx="3063240" cy="822960"/>
          </a:xfrm>
          <a:prstGeom prst="roundRect">
            <a:avLst/>
          </a:prstGeom>
          <a:solidFill>
            <a:srgbClr val="E1F1F3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300" b="1">
                <a:solidFill>
                  <a:srgbClr val="152B4A"/>
                </a:solidFill>
                <a:latin typeface="Aptos Display"/>
              </a:defRPr>
            </a:pPr>
            <a:r>
              <a:t>FEDERATED PATH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Partition into 4 clients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4526280"/>
            <a:ext cx="1828800" cy="749808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200" b="1">
                <a:solidFill>
                  <a:srgbClr val="152B4A"/>
                </a:solidFill>
                <a:latin typeface="Aptos Display"/>
              </a:defRPr>
            </a:pPr>
            <a:r>
              <a:t>IID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Shuffle / deal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26280"/>
            <a:ext cx="1828800" cy="749808"/>
          </a:xfrm>
          <a:prstGeom prst="roundRect">
            <a:avLst/>
          </a:prstGeom>
          <a:solidFill>
            <a:srgbClr val="F6F9FC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200" b="1">
                <a:solidFill>
                  <a:srgbClr val="152B4A"/>
                </a:solidFill>
                <a:latin typeface="Aptos Display"/>
              </a:defRPr>
            </a:pPr>
            <a:r>
              <a:t>Non-IID</a:t>
            </a:r>
          </a:p>
          <a:p>
            <a:pPr algn="ctr">
              <a:defRPr sz="1000">
                <a:solidFill>
                  <a:srgbClr val="526170"/>
                </a:solidFill>
                <a:latin typeface="Aptos"/>
              </a:defRPr>
            </a:pPr>
            <a:r>
              <a:t>1 junction/client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990088"/>
            <a:ext cx="0" cy="438912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074920" y="4251960"/>
            <a:ext cx="411480" cy="27432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20840" y="4251960"/>
            <a:ext cx="411480" cy="27432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12480" y="3246120"/>
            <a:ext cx="3063240" cy="960120"/>
          </a:xfrm>
          <a:prstGeom prst="roundRect">
            <a:avLst/>
          </a:prstGeom>
          <a:solidFill>
            <a:srgbClr val="EBF4F8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200" b="1">
                <a:solidFill>
                  <a:srgbClr val="152B4A"/>
                </a:solidFill>
                <a:latin typeface="Aptos Display"/>
              </a:defRPr>
            </a:pPr>
            <a:r>
              <a:t>Each federated round × 30</a:t>
            </a:r>
          </a:p>
          <a:p>
            <a:pPr algn="ctr">
              <a:defRPr sz="900">
                <a:solidFill>
                  <a:srgbClr val="526170"/>
                </a:solidFill>
                <a:latin typeface="Aptos"/>
              </a:defRPr>
            </a:pPr>
            <a:r>
              <a:t>Server sends global model</a:t>
            </a:r>
            <a:br/>
            <a:r>
              <a:t>4 clients train 1 local epoch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526280"/>
            <a:ext cx="3063240" cy="749808"/>
          </a:xfrm>
          <a:prstGeom prst="roundRect">
            <a:avLst/>
          </a:prstGeom>
          <a:solidFill>
            <a:srgbClr val="E1F1F3"/>
          </a:solidFill>
          <a:ln w="1651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/>
          <a:p>
            <a:pPr algn="ctr">
              <a:defRPr sz="1200" b="1">
                <a:solidFill>
                  <a:srgbClr val="152B4A"/>
                </a:solidFill>
                <a:latin typeface="Aptos Display"/>
              </a:defRPr>
            </a:pPr>
            <a:r>
              <a:t>Clients return weights only</a:t>
            </a:r>
          </a:p>
          <a:p>
            <a:pPr algn="ctr">
              <a:defRPr sz="900">
                <a:solidFill>
                  <a:srgbClr val="526170"/>
                </a:solidFill>
                <a:latin typeface="Aptos"/>
              </a:defRPr>
            </a:pPr>
            <a:r>
              <a:t>FedAvg weighted average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635240" y="3703320"/>
            <a:ext cx="777240" cy="13716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39528" y="4206240"/>
            <a:ext cx="0" cy="32004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577840"/>
            <a:ext cx="1097280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1000" b="1">
                <a:solidFill>
                  <a:srgbClr val="152B4A"/>
                </a:solidFill>
                <a:latin typeface="Aptos"/>
              </a:defRPr>
            </a:pPr>
            <a:r>
              <a:t>Evaluate on test set: MAE · RMSE · per-junction error  |  Mean ± SD over seeds 0, 1,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97880"/>
            <a:ext cx="1097280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ctr">
              <a:defRPr sz="900" b="0">
                <a:solidFill>
                  <a:srgbClr val="526170"/>
                </a:solidFill>
                <a:latin typeface="Aptos"/>
              </a:defRPr>
            </a:pPr>
            <a:r>
              <a:t>Communication tracked: 108,576 bytes per federated round  •  Raw traffic data never leaves clients</a:t>
            </a:r>
          </a:p>
        </p:txBody>
      </p:sp>
      <p:sp>
        <p:nvSpPr>
          <p:cNvPr id="25" name="Text 14"/>
          <p:cNvSpPr/>
          <p:nvPr/>
        </p:nvSpPr>
        <p:spPr>
          <a:xfrm>
            <a:off x="22860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build window: 16–31 October. As a two-person team, we split ownership so both can work in parallel — one on modelling and the federated loop, the other on data, evaluation and reporting.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9448495" cy="0"/>
          </a:xfrm>
          <a:prstGeom prst="line">
            <a:avLst/>
          </a:prstGeom>
          <a:noFill/>
          <a:ln w="19050">
            <a:solidFill>
              <a:srgbClr val="B9BE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16–18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plan, data acquisition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32699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032699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92619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92619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19–21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92619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Preprocess, centralised GRU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22398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22398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82318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build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82318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22–24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82318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FedAvg, IID/non-IID splits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097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097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017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017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25–27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017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3-seed runs, metrics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01796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8701796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61716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61716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28–29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61716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report, pseudocode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591495" y="34290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3" name="Text 31"/>
          <p:cNvSpPr/>
          <p:nvPr/>
        </p:nvSpPr>
        <p:spPr>
          <a:xfrm>
            <a:off x="10591495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951415" y="4023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51415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30–31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51415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review, demo, submit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1–7 (GitHub setup, PDF, intro video) are already complete as part of Level 1, due 14 October.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50" dirty="0"/>
          </a:p>
        </p:txBody>
      </p:sp>
      <p:sp>
        <p:nvSpPr>
          <p:cNvPr id="40" name="Text 14"/>
          <p:cNvSpPr/>
          <p:nvPr/>
        </p:nvSpPr>
        <p:spPr>
          <a:xfrm>
            <a:off x="22860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9576" y="42976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50" dirty="0"/>
          </a:p>
        </p:txBody>
      </p:sp>
      <p:sp>
        <p:nvSpPr>
          <p:cNvPr id="13" name="TextBox 12"/>
          <p:cNvSpPr txBox="1"/>
          <p:nvPr/>
        </p:nvSpPr>
        <p:spPr>
          <a:xfrm>
            <a:off x="594360" y="1234440"/>
            <a:ext cx="50292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08991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234440"/>
            <a:ext cx="1046988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H. B. McMahan, E. Moore, D. Ramage, S. Hampson, and B. A. y Arcas, “Communication-Efficient Learning of Deep Networks from Decentralized Data,” in Proc. 20th Int. Conf. Artif. Intell. Statist. (AISTATS), PMLR, vol. 54, pp. 1273–1282, 2017.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50292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08991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057400"/>
            <a:ext cx="1046988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T. Li, A. K. Sahu, A. Talwalkar, and V. Smith, “Federated Learning: Challenges, Methods, and Future Directions,” IEEE Signal Process. Mag., vol. 37, no. 3, pp. 50–60, May 2020, doi: 10.1109/MSP.2020.2975749.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880360"/>
            <a:ext cx="50292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08991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80360"/>
            <a:ext cx="1046988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F. Sattler, S. Wiedemann, K.-R. Müller, and W. Samek, “Robust and Communication-Efficient Federated Learning From Non-i.i.d. Data,” IEEE Trans. Neural Netw. Learn. Syst., vol. 31, no. 9, pp. 3400–3413, Sep. 2020, doi: 10.1109/TNNLS.2019.2944481.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50292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08991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1046988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Y. Liu, J. J. Q. Yu, J. Kang, D. Niyato, and S. Zhang, “Privacy-Preserving Traffic Flow Prediction: A Federated Learning Approach,” IEEE Internet Things J., vol. 7, no. 8, pp. 7751–7763, Aug. 2020, doi: 10.1109/JIOT.2020.2991401.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26280"/>
            <a:ext cx="50292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100" b="1">
                <a:solidFill>
                  <a:srgbClr val="008991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26280"/>
            <a:ext cx="10469880" cy="44935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00" b="0">
                <a:solidFill>
                  <a:srgbClr val="526170"/>
                </a:solidFill>
                <a:latin typeface="Aptos"/>
              </a:defRPr>
            </a:pPr>
            <a:r>
              <a:rPr sz="1400">
                <a:latin typeface="Times New Roman" panose="02020603050405020304" pitchFamily="18" charset="0"/>
                <a:cs typeface="Times New Roman" panose="02020603050405020304" pitchFamily="18" charset="0"/>
              </a:rPr>
              <a:t>fedesoriano, “Traffic Prediction Dataset,” Kaggle. [Online]. Available: https://www.kaggle.com/datasets/fedesoriano/traffic-prediction-dataset. Accessed: Oct. 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23560"/>
            <a:ext cx="10972800" cy="18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0">
                <a:solidFill>
                  <a:srgbClr val="526170"/>
                </a:solidFill>
                <a:latin typeface="Aptos"/>
              </a:defRPr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metadata and DOI details verified against publisher/index records; dataset citation included for reproducibility.</a:t>
            </a:r>
          </a:p>
        </p:txBody>
      </p:sp>
      <p:sp>
        <p:nvSpPr>
          <p:cNvPr id="24" name="Text 14"/>
          <p:cNvSpPr/>
          <p:nvPr/>
        </p:nvSpPr>
        <p:spPr>
          <a:xfrm>
            <a:off x="22860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AIORI Hackathon 3  · </a:t>
            </a:r>
            <a:r>
              <a:rPr lang="en-US" sz="12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A3-PS003-TC008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783080"/>
            <a:ext cx="777240" cy="0"/>
          </a:xfrm>
          <a:prstGeom prst="line">
            <a:avLst/>
          </a:prstGeom>
          <a:noFill/>
          <a:ln w="16510">
            <a:solidFill>
              <a:srgbClr val="3C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1783080"/>
            <a:ext cx="777240" cy="0"/>
          </a:xfrm>
          <a:prstGeom prst="line">
            <a:avLst/>
          </a:prstGeom>
          <a:noFill/>
          <a:ln w="16510">
            <a:solidFill>
              <a:srgbClr val="3C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9736" y="1664208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199736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76976" y="1664208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976976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54216" y="1664208"/>
            <a:ext cx="237744" cy="23774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6754216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– TECH-4-IMPACT A3-PS003-TC008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3547872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 err="1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Abhinav</a:t>
            </a:r>
            <a:r>
              <a:rPr lang="en-US" sz="1900" dirty="0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Hari K      </a:t>
            </a:r>
            <a:r>
              <a:rPr lang="en-US" sz="20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 </a:t>
            </a:r>
            <a:r>
              <a:rPr lang="en-US" sz="1900" dirty="0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Sajal Gupta      </a:t>
            </a:r>
            <a:r>
              <a:rPr lang="en-US" sz="2000" dirty="0" smtClean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   </a:t>
            </a:r>
            <a:r>
              <a:rPr lang="en-US" sz="1900" dirty="0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900" dirty="0" err="1" smtClean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Gowtham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1208</Words>
  <Application>Microsoft Office PowerPoint</Application>
  <PresentationFormat>Widescreen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A3-PS003-TC008 — FedTraffic</dc:title>
  <dc:subject>PptxGenJS Presentation</dc:subject>
  <dc:creator>Tech-4-Impact</dc:creator>
  <cp:lastModifiedBy>Microsoft account</cp:lastModifiedBy>
  <cp:revision>5</cp:revision>
  <dcterms:created xsi:type="dcterms:W3CDTF">2026-10-09T00:36:56Z</dcterms:created>
  <dcterms:modified xsi:type="dcterms:W3CDTF">2026-10-13T15:27:40Z</dcterms:modified>
</cp:coreProperties>
</file>